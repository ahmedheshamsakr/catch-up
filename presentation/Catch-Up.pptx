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777240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777240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777240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777240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4285F4"/>
                </a:solidFill>
                <a:latin typeface="Arial"/>
              </a:rPr>
              <a:t>NEWS INTELLIGENCE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0" b="1">
                <a:solidFill>
                  <a:srgbClr val="202124"/>
                </a:solidFill>
                <a:latin typeface="Arial"/>
              </a:rPr>
              <a:t>Catch-</a:t>
            </a:r>
            <a:r>
              <a:rPr sz="9000" b="1">
                <a:solidFill>
                  <a:srgbClr val="34A853"/>
                </a:solidFill>
                <a:latin typeface="Arial"/>
              </a:rPr>
              <a:t>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5F6368"/>
                </a:solidFill>
                <a:latin typeface="Arial"/>
              </a:rPr>
              <a:t>Your world, caught up — collected, ranked, and summarized by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80868B"/>
                </a:solidFill>
                <a:latin typeface="Arial"/>
              </a:rPr>
              <a:t>BUILT WITH</a:t>
            </a:r>
          </a:p>
        </p:txBody>
      </p:sp>
      <p:pic>
        <p:nvPicPr>
          <p:cNvPr id="10" name="Picture 9" descr="ad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413248"/>
            <a:ext cx="457200" cy="457200"/>
          </a:xfrm>
          <a:prstGeom prst="rect">
            <a:avLst/>
          </a:prstGeom>
        </p:spPr>
      </p:pic>
      <p:pic>
        <p:nvPicPr>
          <p:cNvPr id="11" name="Picture 10" descr="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5413248"/>
            <a:ext cx="457200" cy="457200"/>
          </a:xfrm>
          <a:prstGeom prst="rect">
            <a:avLst/>
          </a:prstGeom>
        </p:spPr>
      </p:pic>
      <p:pic>
        <p:nvPicPr>
          <p:cNvPr id="12" name="Picture 11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413248"/>
            <a:ext cx="457200" cy="457200"/>
          </a:xfrm>
          <a:prstGeom prst="rect">
            <a:avLst/>
          </a:prstGeom>
        </p:spPr>
      </p:pic>
      <p:pic>
        <p:nvPicPr>
          <p:cNvPr id="13" name="Picture 12" descr="next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5413248"/>
            <a:ext cx="457200" cy="457200"/>
          </a:xfrm>
          <a:prstGeom prst="rect">
            <a:avLst/>
          </a:prstGeom>
        </p:spPr>
      </p:pic>
      <p:pic>
        <p:nvPicPr>
          <p:cNvPr id="14" name="Picture 13" descr="sq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413248"/>
            <a:ext cx="457200" cy="457200"/>
          </a:xfrm>
          <a:prstGeom prst="rect">
            <a:avLst/>
          </a:prstGeom>
        </p:spPr>
      </p:pic>
      <p:pic>
        <p:nvPicPr>
          <p:cNvPr id="15" name="Picture 14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5413248"/>
            <a:ext cx="457200" cy="457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2960" y="6199632"/>
            <a:ext cx="10545775" cy="11887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Ahmed Hesham  ·  AI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735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F6368"/>
                </a:solidFill>
                <a:latin typeface="Arial"/>
              </a:rPr>
              <a:t>Built on Google ADK ·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A4335"/>
                </a:solidFill>
                <a:latin typeface="Arial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Too much news.</a:t>
            </a:r>
          </a:p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Too little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223760" cy="2697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EA4335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News is scattered across feeds, sites, APIs, and video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EA4335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No fast catch-up in both Arabic and English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EA4335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Manual monitoring that just doesn't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1255" y="2148840"/>
            <a:ext cx="2697480" cy="269748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71255" y="2148840"/>
            <a:ext cx="91440" cy="269748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hero_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281178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34A853"/>
                </a:solidFill>
                <a:latin typeface="Arial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One agent that</a:t>
            </a:r>
          </a:p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catches you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223760" cy="2697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34A853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Collects from everywhere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34A853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Ranks what actually matters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34A853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Summarizes in English + Arabic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34A853"/>
                </a:solidFill>
                <a:latin typeface="Arial"/>
              </a:rPr>
              <a:t>—  </a:t>
            </a:r>
            <a:r>
              <a:rPr sz="1800">
                <a:solidFill>
                  <a:srgbClr val="3C4043"/>
                </a:solidFill>
                <a:latin typeface="Arial"/>
              </a:rPr>
              <a:t>Delivers a digest — scheduled or on-demand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1255" y="2148840"/>
            <a:ext cx="2697480" cy="269748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71255" y="2148840"/>
            <a:ext cx="91440" cy="269748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hero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281178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02124"/>
                </a:solidFill>
                <a:latin typeface="Arial"/>
              </a:rPr>
              <a:t>A multi-agent pipeline on Google ADK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_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50" y="3026663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5 sources,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029" y="3515867"/>
            <a:ext cx="237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8773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3026663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28773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8773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+ de-duplicate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4002" y="3515867"/>
            <a:ext cx="237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1746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i_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897" y="3026663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71746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1746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Gemini 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6975" y="3515867"/>
            <a:ext cx="237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4719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_gu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870" y="3026663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4719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4719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fact-check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9948" y="3515867"/>
            <a:ext cx="237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7692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_dig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843" y="3026663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57692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Digest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7692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EN + AR narrative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922" y="3515867"/>
            <a:ext cx="237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00665" y="2788920"/>
            <a:ext cx="160522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_ren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816" y="3026663"/>
            <a:ext cx="566928" cy="566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00665" y="3721608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124"/>
                </a:solidFill>
                <a:latin typeface="Arial"/>
              </a:rPr>
              <a:t>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0665" y="4069079"/>
            <a:ext cx="160522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xlsx · html · 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834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Arial"/>
              </a:rPr>
              <a:t>Everything runs through one ADK agent tree — collectors fan out in parallel, then one Gemini pipeline produces a trustworthy digest.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02124"/>
                </a:solidFill>
                <a:latin typeface="Arial"/>
              </a:rPr>
              <a:t>One ADK agent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3680" y="2304288"/>
            <a:ext cx="23774" cy="3566160"/>
          </a:xfrm>
          <a:prstGeom prst="rect">
            <a:avLst/>
          </a:prstGeom>
          <a:solidFill>
            <a:srgbClr val="BDC1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139696"/>
            <a:ext cx="329184" cy="3291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139696"/>
            <a:ext cx="2834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124"/>
                </a:solidFill>
                <a:latin typeface="Arial"/>
              </a:rPr>
              <a:t>NewsCatchUpPipeline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285F4"/>
                </a:solidFill>
                <a:latin typeface="Arial"/>
              </a:rPr>
              <a:t>SequentialAgent</a:t>
            </a:r>
          </a:p>
        </p:txBody>
      </p:sp>
      <p:sp>
        <p:nvSpPr>
          <p:cNvPr id="11" name="Oval 10"/>
          <p:cNvSpPr/>
          <p:nvPr/>
        </p:nvSpPr>
        <p:spPr>
          <a:xfrm>
            <a:off x="978408" y="2660904"/>
            <a:ext cx="274320" cy="274320"/>
          </a:xfrm>
          <a:prstGeom prst="ellipse">
            <a:avLst/>
          </a:prstGeom>
          <a:solidFill>
            <a:srgbClr val="8086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64993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651760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PipelineInit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create &amp; ID the run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313639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1254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127248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CollectSources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27248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ParallelAgent — fan-out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" y="3904487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9351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895344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NormalizeDedup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8953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merge · de-duplicate</a:t>
            </a:r>
          </a:p>
        </p:txBody>
      </p:sp>
      <p:sp>
        <p:nvSpPr>
          <p:cNvPr id="23" name="Oval 22"/>
          <p:cNvSpPr/>
          <p:nvPr/>
        </p:nvSpPr>
        <p:spPr>
          <a:xfrm>
            <a:off x="978408" y="4361688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35071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352544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3525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Gemini enrich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" y="4818888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80791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809744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GuardrailCritic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97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fact-check · self-correct</a:t>
            </a:r>
          </a:p>
        </p:txBody>
      </p:sp>
      <p:sp>
        <p:nvSpPr>
          <p:cNvPr id="31" name="Oval 30"/>
          <p:cNvSpPr/>
          <p:nvPr/>
        </p:nvSpPr>
        <p:spPr>
          <a:xfrm>
            <a:off x="978408" y="5276088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26511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5266944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DigestEditor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2669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EN / AR narrative</a:t>
            </a:r>
          </a:p>
        </p:txBody>
      </p:sp>
      <p:sp>
        <p:nvSpPr>
          <p:cNvPr id="35" name="Oval 34"/>
          <p:cNvSpPr/>
          <p:nvPr/>
        </p:nvSpPr>
        <p:spPr>
          <a:xfrm>
            <a:off x="978408" y="5733288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72231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4752" y="5724144"/>
            <a:ext cx="1892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Render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7241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xlsx · html · 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354787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RSS · Scrape · API · Search · YouTube — run concurrently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304288"/>
            <a:ext cx="3200400" cy="3694176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254203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4285F4"/>
                </a:solidFill>
                <a:latin typeface="Arial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6368"/>
                </a:solidFill>
                <a:latin typeface="Arial"/>
              </a:rPr>
              <a:t>agents · one tree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85632" y="3968496"/>
            <a:ext cx="2505456" cy="10972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416966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4169664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043"/>
                </a:solidFill>
                <a:latin typeface="Arial"/>
              </a:rPr>
              <a:t>Sequential orchestrator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4608576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544" y="4608576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043"/>
                </a:solidFill>
                <a:latin typeface="Arial"/>
              </a:rPr>
              <a:t>Parallel fan-out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5047488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3740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5047488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043"/>
                </a:solidFill>
                <a:latin typeface="Arial"/>
              </a:rPr>
              <a:t>Source collectors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5486400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4544" y="548640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043"/>
                </a:solidFill>
                <a:latin typeface="Arial"/>
              </a:rPr>
              <a:t>Pipeline stages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THE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02124"/>
                </a:solidFill>
                <a:latin typeface="Arial"/>
              </a:rPr>
              <a:t>What each agent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4285F4"/>
                </a:solidFill>
                <a:latin typeface="Arial"/>
              </a:rPr>
              <a:t>PIPELINE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PipelineInit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create &amp; ID 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CollectSources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5 collectors, in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941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NormalizeDedup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merge &amp; de-duplicate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966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Processing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enrich with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GuardrailCritic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fact-check &amp; self-correct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DigestEditor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write the EN / AR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7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124"/>
                </a:solidFill>
                <a:latin typeface="Arial"/>
              </a:rPr>
              <a:t>Render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Excel · HTML · 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6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E37400"/>
                </a:solidFill>
                <a:latin typeface="Arial"/>
              </a:rPr>
              <a:t>GEMINI SUB-AGENTS 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37400"/>
                </a:solidFill>
                <a:latin typeface="Arial"/>
              </a:rPr>
              <a:t>news_processor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categorize · score · summarize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186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37400"/>
                </a:solidFill>
                <a:latin typeface="Arial"/>
              </a:rPr>
              <a:t>faithfulness_critic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verify vs the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941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37400"/>
                </a:solidFill>
                <a:latin typeface="Arial"/>
              </a:rPr>
              <a:t>digest_editor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compose the 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966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37400"/>
                </a:solidFill>
                <a:latin typeface="Arial"/>
              </a:rPr>
              <a:t>search_collector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Google Search 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45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37400"/>
                </a:solidFill>
                <a:latin typeface="Arial"/>
              </a:rPr>
              <a:t>youtube_summarizer</a:t>
            </a:r>
            <a:r>
              <a:rPr sz="1350" b="0">
                <a:solidFill>
                  <a:srgbClr val="80868B"/>
                </a:solidFill>
                <a:latin typeface="Arial"/>
              </a:rPr>
              <a:t>  —  </a:t>
            </a:r>
            <a:r>
              <a:rPr sz="1300" b="0">
                <a:solidFill>
                  <a:srgbClr val="3C4043"/>
                </a:solidFill>
                <a:latin typeface="Arial"/>
              </a:rPr>
              <a:t>summarize transcripts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1207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0868B"/>
                </a:solidFill>
                <a:latin typeface="Arial"/>
              </a:rPr>
              <a:t>+ news_reprocessor (self-correction)  ·  enrichment_judge (offline eval)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02124"/>
                </a:solidFill>
                <a:latin typeface="Arial"/>
              </a:rPr>
              <a:t>Four decisions behind the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67147" cy="1627632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02124"/>
                </a:solidFill>
                <a:latin typeface="Arial"/>
              </a:rPr>
              <a:t>ADK-native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63824"/>
            <a:ext cx="44270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F6368"/>
                </a:solidFill>
                <a:latin typeface="Arial"/>
              </a:rPr>
              <a:t>The agent tree IS the orchestration — no glue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2377440"/>
            <a:ext cx="5067147" cy="1627632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587" y="237744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347" y="265176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02124"/>
                </a:solidFill>
                <a:latin typeface="Arial"/>
              </a:rPr>
              <a:t>Free → Cloud by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47" y="3163824"/>
            <a:ext cx="44270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F6368"/>
                </a:solidFill>
                <a:latin typeface="Arial"/>
              </a:rPr>
              <a:t>Same code runs local or on Google Cloud, not a rewrite.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5067147" cy="1627632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720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02124"/>
                </a:solidFill>
                <a:latin typeface="Arial"/>
              </a:rPr>
              <a:t>Swappable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84064"/>
            <a:ext cx="44270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F6368"/>
                </a:solidFill>
                <a:latin typeface="Arial"/>
              </a:rPr>
              <a:t>SQLite ↔ Firestore behind a clean storage port; AI Studio ↔ Vertex by config.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1587" y="4297680"/>
            <a:ext cx="5067147" cy="1627632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1587" y="429768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47" y="45720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02124"/>
                </a:solidFill>
                <a:latin typeface="Arial"/>
              </a:rPr>
              <a:t>Secure by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47" y="5084064"/>
            <a:ext cx="44270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F6368"/>
                </a:solidFill>
                <a:latin typeface="Arial"/>
              </a:rPr>
              <a:t>Loopback-guarded settings, fail-closed auth &amp; guardrails, one SSRF chokepoint.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FEATURE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02124"/>
                </a:solidFill>
                <a:latin typeface="Arial"/>
              </a:rPr>
              <a:t>Collect from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5F6368"/>
                </a:solidFill>
                <a:latin typeface="Arial"/>
              </a:rPr>
              <a:t>One safe pipeline pulls from five source types — SSRF-guarded and rate-limited.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351" y="3246120"/>
            <a:ext cx="1737360" cy="1600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rc_r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15" y="3557015"/>
            <a:ext cx="71323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4351" y="43799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RSS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5759" y="3246120"/>
            <a:ext cx="1737360" cy="1600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rc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823" y="3557015"/>
            <a:ext cx="713232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5759" y="43799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Web scrape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7167" y="3246120"/>
            <a:ext cx="1737360" cy="1600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rc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231" y="3557015"/>
            <a:ext cx="713232" cy="713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27167" y="43799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News 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8575" y="3246120"/>
            <a:ext cx="1737360" cy="1600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rc_yout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639" y="3557015"/>
            <a:ext cx="713232" cy="713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48575" y="43799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YouTube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9983" y="3246120"/>
            <a:ext cx="1737360" cy="1600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rc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047" y="3557015"/>
            <a:ext cx="713232" cy="7132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69983" y="43799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Search grounding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75504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70932"/>
            <a:ext cx="6035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 spc="130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48072"/>
            <a:ext cx="8229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124"/>
                </a:solidFill>
                <a:latin typeface="Arial"/>
              </a:rPr>
              <a:t>No single source has the whole picture.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37400"/>
                </a:solidFill>
                <a:latin typeface="Arial"/>
              </a:rPr>
              <a:t>FEATURE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Rank &amp; summarize</a:t>
            </a:r>
          </a:p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with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223760" cy="2697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37400"/>
                </a:solidFill>
                <a:latin typeface="Arial"/>
              </a:rPr>
              <a:t>—  </a:t>
            </a:r>
            <a:r>
              <a:rPr sz="1650">
                <a:solidFill>
                  <a:srgbClr val="3C4043"/>
                </a:solidFill>
                <a:latin typeface="Arial"/>
              </a:rPr>
              <a:t>Categorize into AI/Tech, Business, World, and Gulf/MENA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37400"/>
                </a:solidFill>
                <a:latin typeface="Arial"/>
              </a:rPr>
              <a:t>—  </a:t>
            </a:r>
            <a:r>
              <a:rPr sz="1650">
                <a:solidFill>
                  <a:srgbClr val="3C4043"/>
                </a:solidFill>
                <a:latin typeface="Arial"/>
              </a:rPr>
              <a:t>Score importance — see what matters first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37400"/>
                </a:solidFill>
                <a:latin typeface="Arial"/>
              </a:rPr>
              <a:t>—  </a:t>
            </a:r>
            <a:r>
              <a:rPr sz="1650">
                <a:solidFill>
                  <a:srgbClr val="3C4043"/>
                </a:solidFill>
                <a:latin typeface="Arial"/>
              </a:rPr>
              <a:t>Summarize in English + Arabic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37400"/>
                </a:solidFill>
                <a:latin typeface="Arial"/>
              </a:rPr>
              <a:t>—  </a:t>
            </a:r>
            <a:r>
              <a:rPr sz="1650">
                <a:solidFill>
                  <a:srgbClr val="3C4043"/>
                </a:solidFill>
                <a:latin typeface="Arial"/>
              </a:rPr>
              <a:t>Extract the people, orgs, and places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1255" y="2148840"/>
            <a:ext cx="2697480" cy="269748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71255" y="2148840"/>
            <a:ext cx="91440" cy="2697480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2811780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175504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70932"/>
            <a:ext cx="6035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 spc="130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148072"/>
            <a:ext cx="8229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124"/>
                </a:solidFill>
                <a:latin typeface="Arial"/>
              </a:rPr>
              <a:t>Triage-first — the signal, in your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34A853"/>
                </a:solidFill>
                <a:latin typeface="Arial"/>
              </a:rPr>
              <a:t>FEATURE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An agent you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223760" cy="2697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An LLM-as-judge critic fact-checks top items against their source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Unfaithful summaries are flagged — and never shown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The judge and the critic share one faithfulness rubric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1255" y="2148840"/>
            <a:ext cx="2697480" cy="269748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71255" y="2148840"/>
            <a:ext cx="91440" cy="269748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_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2811780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175504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70932"/>
            <a:ext cx="6035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 spc="130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148072"/>
            <a:ext cx="8229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124"/>
                </a:solidFill>
                <a:latin typeface="Arial"/>
              </a:rPr>
              <a:t>No hallucinations. No made-up news.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FEATURE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02124"/>
                </a:solidFill>
                <a:latin typeface="Arial"/>
              </a:rPr>
              <a:t>Delivered the way you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223760" cy="2697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4285F4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Excel · HTML dashboard · Markdown digests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4285F4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A Next.js console to browse, search, and configure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4285F4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A one-click macOS desktop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1255" y="2148840"/>
            <a:ext cx="2697480" cy="269748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71255" y="2148840"/>
            <a:ext cx="91440" cy="269748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hero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2811780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175504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70932"/>
            <a:ext cx="6035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 spc="130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148072"/>
            <a:ext cx="8229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124"/>
                </a:solidFill>
                <a:latin typeface="Arial"/>
              </a:rPr>
              <a:t>Meet every user on the surface they already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285F4"/>
                </a:solidFill>
                <a:latin typeface="Arial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02124"/>
                </a:solidFill>
                <a:latin typeface="Arial"/>
              </a:rPr>
              <a:t>How I directed the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_brainst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34" y="2450592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Brainstorm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intent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6269" y="2770632"/>
            <a:ext cx="219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5725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_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359" y="245059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25725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5725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write it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6194" y="2770632"/>
            <a:ext cx="219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5650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_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285" y="245059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65650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5650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Codex-reviewed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6119" y="2770632"/>
            <a:ext cx="219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5575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_bui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210" y="2450592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05575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575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TDD · subagents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6044" y="2770632"/>
            <a:ext cx="219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5500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_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35" y="2450592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45500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5500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Codex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970" y="2770632"/>
            <a:ext cx="219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0868B"/>
                </a:solidFill>
                <a:latin typeface="Arial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5426" y="2249424"/>
            <a:ext cx="162046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p_mer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7060" y="2450592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85426" y="2980944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124"/>
                </a:solidFill>
                <a:latin typeface="Arial"/>
              </a:rP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5426" y="3282696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F6368"/>
                </a:solidFill>
                <a:latin typeface="Arial"/>
              </a:rPr>
              <a:t>green &amp; verified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749039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F6368"/>
                </a:solidFill>
                <a:latin typeface="Arial"/>
              </a:rPr>
              <a:t>I set the architecture &amp; standards up front, then looped every feature through this — reviewed and tested before it merged.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443984"/>
            <a:ext cx="3271418" cy="13716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" y="4443984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663440"/>
            <a:ext cx="27227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124"/>
                </a:solidFill>
                <a:latin typeface="Arial"/>
              </a:rPr>
              <a:t>Standards up front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5102352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F6368"/>
                </a:solidFill>
                <a:latin typeface="Arial"/>
              </a:rPr>
              <a:t>Architecture, security &amp; the 'Signal' design system — fixed in CLAUDE.md before any code.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0138" y="4443984"/>
            <a:ext cx="3271418" cy="13716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60138" y="4443984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1034" y="4663440"/>
            <a:ext cx="27227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124"/>
                </a:solidFill>
                <a:latin typeface="Arial"/>
              </a:rPr>
              <a:t>Independent review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1034" y="5102352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F6368"/>
                </a:solidFill>
                <a:latin typeface="Arial"/>
              </a:rPr>
              <a:t>Every plan and task passed an external Codex review before merge.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7316" y="4443984"/>
            <a:ext cx="3271418" cy="13716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97316" y="4443984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8212" y="4663440"/>
            <a:ext cx="27227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124"/>
                </a:solidFill>
                <a:latin typeface="Arial"/>
              </a:rPr>
              <a:t>Persistent memory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8212" y="5102352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F6368"/>
                </a:solidFill>
                <a:latin typeface="Arial"/>
              </a:rPr>
              <a:t>A living BUILD-LOG and memory kept the agent on-thread across sessions.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457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124"/>
                </a:solidFill>
                <a:latin typeface="Arial"/>
              </a:rPr>
              <a:t>Catch-Up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498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34A853"/>
                </a:solidFill>
                <a:latin typeface="Arial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16736"/>
            <a:ext cx="457200" cy="53035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Free today.</a:t>
            </a:r>
          </a:p>
          <a:p>
            <a:pPr algn="l">
              <a:lnSpc>
                <a:spcPct val="102000"/>
              </a:lnSpc>
            </a:pPr>
            <a:r>
              <a:rPr sz="3700" b="1" i="0">
                <a:solidFill>
                  <a:srgbClr val="202124"/>
                </a:solidFill>
                <a:latin typeface="Arial"/>
              </a:rPr>
              <a:t>Cloud-ready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Runs free on your laptop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Scales to Cloud Run + Vertex AI + Firestore — by config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34A853"/>
                </a:solidFill>
                <a:latin typeface="Arial"/>
              </a:rPr>
              <a:t>—  </a:t>
            </a:r>
            <a:r>
              <a:rPr sz="1700">
                <a:solidFill>
                  <a:srgbClr val="3C4043"/>
                </a:solidFill>
                <a:latin typeface="Arial"/>
              </a:rPr>
              <a:t>Built on Google ADK +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495" y="14173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80868B"/>
                </a:solidFill>
                <a:latin typeface="Arial"/>
              </a:rPr>
              <a:t>BUILT WITH</a:t>
            </a:r>
          </a:p>
        </p:txBody>
      </p:sp>
      <p:pic>
        <p:nvPicPr>
          <p:cNvPr id="9" name="Picture 8" descr="ad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071" y="1874519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5919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Google ADK</a:t>
            </a:r>
          </a:p>
        </p:txBody>
      </p:sp>
      <p:pic>
        <p:nvPicPr>
          <p:cNvPr id="11" name="Picture 10" descr="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303" y="1874519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39151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Gemini</a:t>
            </a:r>
          </a:p>
        </p:txBody>
      </p:sp>
      <p:pic>
        <p:nvPicPr>
          <p:cNvPr id="13" name="Picture 12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535" y="1874519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52383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FastAPI</a:t>
            </a:r>
          </a:p>
        </p:txBody>
      </p:sp>
      <p:pic>
        <p:nvPicPr>
          <p:cNvPr id="15" name="Picture 14" descr="next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767" y="1874519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65615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Next.js</a:t>
            </a:r>
          </a:p>
        </p:txBody>
      </p:sp>
      <p:pic>
        <p:nvPicPr>
          <p:cNvPr id="17" name="Picture 16" descr="sq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999" y="1874519"/>
            <a:ext cx="566928" cy="566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78847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SQLite</a:t>
            </a:r>
          </a:p>
        </p:txBody>
      </p:sp>
      <p:pic>
        <p:nvPicPr>
          <p:cNvPr id="19" name="Picture 18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5231" y="1874519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692079" y="2532888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F6368"/>
                </a:solidFill>
                <a:latin typeface="Arial"/>
              </a:rPr>
              <a:t>Firestore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943600"/>
            <a:ext cx="10545775" cy="11887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0899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6368"/>
                </a:solidFill>
                <a:latin typeface="Arial"/>
              </a:rPr>
              <a:t>Catch-Up — News Intelligence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0899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F6368"/>
                </a:solidFill>
                <a:latin typeface="Arial"/>
              </a:rPr>
              <a:t>Ahmed Hesham · AI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64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8086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